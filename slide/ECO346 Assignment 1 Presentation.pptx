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media/image2.svg" ContentType="image/svg+xml"/>
  <Override PartName="/ppt/media/image4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60" r:id="rId6"/>
    <p:sldId id="258" r:id="rId7"/>
    <p:sldId id="259" r:id="rId8"/>
  </p:sldIdLst>
  <p:sldSz cx="12192000" cy="6858000"/>
  <p:notesSz cx="6858000" cy="9144000"/>
  <p:embeddedFontLst>
    <p:embeddedFont>
      <p:font typeface="Calibri" panose="020F0502020204030204"/>
      <p:regular r:id="rId12"/>
      <p:bold r:id="rId13"/>
      <p:italic r:id="rId14"/>
      <p:boldItalic r:id="rId15"/>
    </p:embeddedFont>
    <p:embeddedFont>
      <p:font typeface="Space Grotesk"/>
      <p:regular r:id="rId16"/>
      <p:bold r:id="rId17"/>
    </p:embeddedFont>
    <p:embeddedFont>
      <p:font typeface="Inter" panose="02000503000000020004"/>
      <p:regular r:id="rId18"/>
      <p:bold r:id="rId19"/>
      <p:italic r:id="rId20"/>
      <p:boldItalic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2192" userDrawn="1">
          <p15:clr>
            <a:srgbClr val="000000"/>
          </p15:clr>
        </p15:guide>
        <p15:guide id="2" pos="2880" userDrawn="1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2192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font" Target="fonts/font10.fntdata"/><Relationship Id="rId20" Type="http://schemas.openxmlformats.org/officeDocument/2006/relationships/font" Target="fonts/font9.fntdata"/><Relationship Id="rId2" Type="http://schemas.openxmlformats.org/officeDocument/2006/relationships/theme" Target="theme/theme1.xml"/><Relationship Id="rId19" Type="http://schemas.openxmlformats.org/officeDocument/2006/relationships/font" Target="fonts/font8.fntdata"/><Relationship Id="rId18" Type="http://schemas.openxmlformats.org/officeDocument/2006/relationships/font" Target="fonts/font7.fntdata"/><Relationship Id="rId17" Type="http://schemas.openxmlformats.org/officeDocument/2006/relationships/font" Target="fonts/font6.fntdata"/><Relationship Id="rId16" Type="http://schemas.openxmlformats.org/officeDocument/2006/relationships/font" Target="fonts/font5.fntdata"/><Relationship Id="rId15" Type="http://schemas.openxmlformats.org/officeDocument/2006/relationships/font" Target="fonts/font4.fntdata"/><Relationship Id="rId14" Type="http://schemas.openxmlformats.org/officeDocument/2006/relationships/font" Target="fonts/font3.fntdata"/><Relationship Id="rId13" Type="http://schemas.openxmlformats.org/officeDocument/2006/relationships/font" Target="fonts/font2.fntdata"/><Relationship Id="rId12" Type="http://schemas.openxmlformats.org/officeDocument/2006/relationships/font" Target="fonts/font1.fntdata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2" name="Google Shape;82;p1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9" name="Google Shape;99;p2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9" name="Google Shape;99;p2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28" name="Google Shape;128;p3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51" name="Google Shape;151;p4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Title and Content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 panose="020F0502020204030204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Two Content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Comparison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43" name="Google Shape;43;p7"/>
          <p:cNvSpPr txBox="1"/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45" name="Google Shape;45;p7"/>
          <p:cNvSpPr txBox="1"/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Content with Caption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 panose="020F0502020204030204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Picture with Caption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 panose="020F0502020204030204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Title and Vertical Text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Vertical Title and Text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  <a:defRPr sz="4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/>
              <a:buChar char="•"/>
              <a:defRPr sz="3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–"/>
              <a:defRPr sz="2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–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»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4.svg"/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5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4271962" y="1716434"/>
            <a:ext cx="3648075" cy="447675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9525" cap="flat" cmpd="sng">
            <a:solidFill>
              <a:srgbClr val="33415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85" name="Google Shape;85;p13"/>
          <p:cNvSpPr/>
          <p:nvPr/>
        </p:nvSpPr>
        <p:spPr>
          <a:xfrm>
            <a:off x="3248025" y="4370040"/>
            <a:ext cx="5695950" cy="771525"/>
          </a:xfrm>
          <a:prstGeom prst="roundRect">
            <a:avLst>
              <a:gd name="adj" fmla="val 19753"/>
            </a:avLst>
          </a:prstGeom>
          <a:solidFill>
            <a:srgbClr val="1E293B"/>
          </a:solidFill>
          <a:ln w="9525" cap="flat" cmpd="sng">
            <a:solidFill>
              <a:srgbClr val="33415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86" name="Google Shape;86;p13"/>
          <p:cNvSpPr/>
          <p:nvPr/>
        </p:nvSpPr>
        <p:spPr>
          <a:xfrm>
            <a:off x="5181600" y="4570065"/>
            <a:ext cx="9525" cy="37147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87" name="Google Shape;87;p13"/>
          <p:cNvSpPr/>
          <p:nvPr/>
        </p:nvSpPr>
        <p:spPr>
          <a:xfrm>
            <a:off x="7439025" y="4570065"/>
            <a:ext cx="9525" cy="37147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470296" y="2430809"/>
            <a:ext cx="11251406" cy="11391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Education Spending &amp; Gender Literacy Profile</a:t>
            </a:r>
            <a:endParaRPr lang="en-US" sz="3900" b="1" i="0" u="none" strike="noStrike" cap="none">
              <a:solidFill>
                <a:srgbClr val="F8FAFC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89" name="Google Shape;89;p13"/>
          <p:cNvSpPr txBox="1"/>
          <p:nvPr/>
        </p:nvSpPr>
        <p:spPr>
          <a:xfrm>
            <a:off x="1964531" y="3760440"/>
            <a:ext cx="8262937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Empirical findings for Sindh Rural (Variant 2) based on PSLM survey data</a:t>
            </a:r>
            <a:endParaRPr lang="en-US" sz="1500" b="0" i="0" u="none" strike="noStrike" cap="none">
              <a:solidFill>
                <a:srgbClr val="94A3B8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4113609" y="1840259"/>
            <a:ext cx="3964781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rPr>
              <a:t>ECO346 • ASSIGNMENT 1 PRESENTATION</a:t>
            </a:r>
            <a:endParaRPr lang="en-US" sz="1200" b="1" i="0" u="none" strike="noStrike" cap="none">
              <a:solidFill>
                <a:srgbClr val="38BDF8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91" name="Google Shape;91;p13"/>
          <p:cNvSpPr txBox="1"/>
          <p:nvPr/>
        </p:nvSpPr>
        <p:spPr>
          <a:xfrm>
            <a:off x="3483768" y="4570065"/>
            <a:ext cx="1547812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64748B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REG NUMBER</a:t>
            </a:r>
            <a:endParaRPr lang="en-US" sz="900" b="1" i="0" u="none" strike="noStrike" cap="none">
              <a:solidFill>
                <a:srgbClr val="64748B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92" name="Google Shape;92;p13"/>
          <p:cNvSpPr txBox="1"/>
          <p:nvPr/>
        </p:nvSpPr>
        <p:spPr>
          <a:xfrm>
            <a:off x="3483768" y="4751040"/>
            <a:ext cx="1547812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1F5F9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FA24-BEDS-002</a:t>
            </a:r>
            <a:endParaRPr lang="en-US" sz="1200" b="1" i="0" u="none" strike="noStrike" cap="none">
              <a:solidFill>
                <a:srgbClr val="F1F5F9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93" name="Google Shape;93;p13"/>
          <p:cNvSpPr txBox="1"/>
          <p:nvPr/>
        </p:nvSpPr>
        <p:spPr>
          <a:xfrm>
            <a:off x="5291137" y="4570065"/>
            <a:ext cx="2047875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64748B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GEOGRAPHY</a:t>
            </a:r>
            <a:endParaRPr lang="en-US" sz="900" b="1" i="0" u="none" strike="noStrike" cap="none">
              <a:solidFill>
                <a:srgbClr val="64748B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94" name="Google Shape;94;p13"/>
          <p:cNvSpPr txBox="1"/>
          <p:nvPr/>
        </p:nvSpPr>
        <p:spPr>
          <a:xfrm>
            <a:off x="5291137" y="4751040"/>
            <a:ext cx="204787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1F5F9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Sindh Rural (Variant 2)</a:t>
            </a:r>
            <a:endParaRPr lang="en-US" sz="1200" b="1" i="0" u="none" strike="noStrike" cap="none">
              <a:solidFill>
                <a:srgbClr val="F1F5F9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95" name="Google Shape;95;p13"/>
          <p:cNvSpPr txBox="1"/>
          <p:nvPr/>
        </p:nvSpPr>
        <p:spPr>
          <a:xfrm>
            <a:off x="7610475" y="4570065"/>
            <a:ext cx="1085850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64748B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STACK</a:t>
            </a:r>
            <a:endParaRPr lang="en-US" sz="900" b="1" i="0" u="none" strike="noStrike" cap="none">
              <a:solidFill>
                <a:srgbClr val="64748B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7610475" y="4751040"/>
            <a:ext cx="108585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1F5F9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R &amp; Python</a:t>
            </a:r>
            <a:endParaRPr lang="en-US" sz="1200" b="1" i="0" u="none" strike="noStrike" cap="none">
              <a:solidFill>
                <a:srgbClr val="F1F5F9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4"/>
          <p:cNvSpPr/>
          <p:nvPr/>
        </p:nvSpPr>
        <p:spPr>
          <a:xfrm>
            <a:off x="609600" y="2157412"/>
            <a:ext cx="38100" cy="1171575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08" name="Google Shape;108;p14"/>
          <p:cNvSpPr/>
          <p:nvPr/>
        </p:nvSpPr>
        <p:spPr>
          <a:xfrm>
            <a:off x="609600" y="3481387"/>
            <a:ext cx="38100" cy="1171575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09" name="Google Shape;109;p14"/>
          <p:cNvSpPr/>
          <p:nvPr/>
        </p:nvSpPr>
        <p:spPr>
          <a:xfrm>
            <a:off x="609600" y="4805362"/>
            <a:ext cx="38100" cy="70485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10" name="Google Shape;110;p14"/>
          <p:cNvSpPr/>
          <p:nvPr/>
        </p:nvSpPr>
        <p:spPr>
          <a:xfrm>
            <a:off x="6579244" y="4410075"/>
            <a:ext cx="800248" cy="209550"/>
          </a:xfrm>
          <a:prstGeom prst="roundRect">
            <a:avLst>
              <a:gd name="adj" fmla="val 18181"/>
            </a:avLst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3" name="Picture 2" descr="default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47700" y="2010410"/>
            <a:ext cx="4800600" cy="3429000"/>
          </a:xfrm>
          <a:prstGeom prst="rect">
            <a:avLst/>
          </a:prstGeom>
        </p:spPr>
      </p:pic>
      <p:pic>
        <p:nvPicPr>
          <p:cNvPr id="4" name="Picture 3" descr="relationship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940425" y="1873250"/>
            <a:ext cx="5486400" cy="3429000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3366770" y="726440"/>
            <a:ext cx="6096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 sz="3200" b="1">
                <a:solidFill>
                  <a:schemeClr val="bg2">
                    <a:lumMod val="50000"/>
                  </a:schemeClr>
                </a:solidFill>
              </a:rPr>
              <a:t>Default Vs Redeign</a:t>
            </a:r>
            <a:endParaRPr lang="en-US" altLang="en-US" sz="3200" b="1">
              <a:solidFill>
                <a:schemeClr val="bg2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4"/>
          <p:cNvSpPr/>
          <p:nvPr/>
        </p:nvSpPr>
        <p:spPr>
          <a:xfrm>
            <a:off x="10020300" y="547687"/>
            <a:ext cx="1562100" cy="361950"/>
          </a:xfrm>
          <a:prstGeom prst="roundRect">
            <a:avLst>
              <a:gd name="adj" fmla="val 21052"/>
            </a:avLst>
          </a:prstGeom>
          <a:solidFill>
            <a:srgbClr val="EFF6FF"/>
          </a:solidFill>
          <a:ln w="9525" cap="flat" cmpd="sng">
            <a:solidFill>
              <a:srgbClr val="BFDBF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02" name="Google Shape;102;p14"/>
          <p:cNvSpPr/>
          <p:nvPr/>
        </p:nvSpPr>
        <p:spPr>
          <a:xfrm>
            <a:off x="609600" y="2157412"/>
            <a:ext cx="4883794" cy="1171575"/>
          </a:xfrm>
          <a:prstGeom prst="roundRect">
            <a:avLst>
              <a:gd name="adj" fmla="val 6504"/>
            </a:avLst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03" name="Google Shape;103;p14"/>
          <p:cNvSpPr/>
          <p:nvPr/>
        </p:nvSpPr>
        <p:spPr>
          <a:xfrm>
            <a:off x="609600" y="3481387"/>
            <a:ext cx="4883794" cy="1171575"/>
          </a:xfrm>
          <a:prstGeom prst="roundRect">
            <a:avLst>
              <a:gd name="adj" fmla="val 6504"/>
            </a:avLst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04" name="Google Shape;104;p14"/>
          <p:cNvSpPr/>
          <p:nvPr/>
        </p:nvSpPr>
        <p:spPr>
          <a:xfrm>
            <a:off x="609600" y="4805362"/>
            <a:ext cx="4883794" cy="704850"/>
          </a:xfrm>
          <a:prstGeom prst="roundRect">
            <a:avLst>
              <a:gd name="adj" fmla="val 10810"/>
            </a:avLst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05" name="Google Shape;105;p14"/>
          <p:cNvSpPr/>
          <p:nvPr/>
        </p:nvSpPr>
        <p:spPr>
          <a:xfrm>
            <a:off x="5721994" y="2619375"/>
            <a:ext cx="5860405" cy="1133475"/>
          </a:xfrm>
          <a:prstGeom prst="roundRect">
            <a:avLst>
              <a:gd name="adj" fmla="val 10084"/>
            </a:avLst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06" name="Google Shape;106;p14"/>
          <p:cNvSpPr/>
          <p:nvPr/>
        </p:nvSpPr>
        <p:spPr>
          <a:xfrm>
            <a:off x="5721994" y="3905250"/>
            <a:ext cx="5860405" cy="114300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07" name="Google Shape;107;p14"/>
          <p:cNvSpPr/>
          <p:nvPr/>
        </p:nvSpPr>
        <p:spPr>
          <a:xfrm>
            <a:off x="609600" y="2157412"/>
            <a:ext cx="38100" cy="1171575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08" name="Google Shape;108;p14"/>
          <p:cNvSpPr/>
          <p:nvPr/>
        </p:nvSpPr>
        <p:spPr>
          <a:xfrm>
            <a:off x="609600" y="3481387"/>
            <a:ext cx="38100" cy="1171575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09" name="Google Shape;109;p14"/>
          <p:cNvSpPr/>
          <p:nvPr/>
        </p:nvSpPr>
        <p:spPr>
          <a:xfrm>
            <a:off x="609600" y="4805362"/>
            <a:ext cx="38100" cy="70485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10" name="Google Shape;110;p14"/>
          <p:cNvSpPr/>
          <p:nvPr/>
        </p:nvSpPr>
        <p:spPr>
          <a:xfrm>
            <a:off x="6579244" y="4410075"/>
            <a:ext cx="800248" cy="209550"/>
          </a:xfrm>
          <a:prstGeom prst="roundRect">
            <a:avLst>
              <a:gd name="adj" fmla="val 18181"/>
            </a:avLst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10172700" y="623887"/>
            <a:ext cx="135255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1D4ED8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N = 3,186 Students</a:t>
            </a:r>
            <a:endParaRPr lang="en-US" sz="1050" b="1" i="0" u="none" strike="noStrike" cap="none">
              <a:solidFill>
                <a:srgbClr val="1D4ED8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609600" y="457200"/>
            <a:ext cx="5643562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2563EB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QUESTION 2</a:t>
            </a:r>
            <a:endParaRPr lang="en-US" sz="1050" b="1" i="0" u="none" strike="noStrike" cap="none">
              <a:solidFill>
                <a:srgbClr val="2563EB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113" name="Google Shape;113;p14"/>
          <p:cNvSpPr txBox="1"/>
          <p:nvPr/>
        </p:nvSpPr>
        <p:spPr>
          <a:xfrm>
            <a:off x="609600" y="657225"/>
            <a:ext cx="59257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1" i="0" u="none" strike="noStrike" cap="none">
                <a:solidFill>
                  <a:srgbClr val="0F172A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Education Spending Distribution</a:t>
            </a:r>
            <a:endParaRPr lang="en-US" sz="2250" b="1" i="0" u="none" strike="noStrike" cap="none">
              <a:solidFill>
                <a:srgbClr val="0F172A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114" name="Google Shape;114;p14"/>
          <p:cNvSpPr txBox="1"/>
          <p:nvPr/>
        </p:nvSpPr>
        <p:spPr>
          <a:xfrm>
            <a:off x="838200" y="2347912"/>
            <a:ext cx="5580868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64748B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Weighted Median Spending</a:t>
            </a:r>
            <a:endParaRPr lang="en-US" sz="975" b="0" i="0" u="none" strike="noStrike" cap="none">
              <a:solidFill>
                <a:srgbClr val="64748B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115" name="Google Shape;115;p14"/>
          <p:cNvSpPr txBox="1"/>
          <p:nvPr/>
        </p:nvSpPr>
        <p:spPr>
          <a:xfrm>
            <a:off x="838200" y="2538412"/>
            <a:ext cx="5580868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0F172A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Rs 1,500</a:t>
            </a:r>
            <a:endParaRPr lang="en-US" sz="2700" b="1" i="0" u="none" strike="noStrike" cap="none">
              <a:solidFill>
                <a:srgbClr val="0F172A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116" name="Google Shape;116;p14"/>
          <p:cNvSpPr txBox="1"/>
          <p:nvPr/>
        </p:nvSpPr>
        <p:spPr>
          <a:xfrm>
            <a:off x="838200" y="2995612"/>
            <a:ext cx="5580868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0F172A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Unweighted median: Rs 1,500</a:t>
            </a:r>
            <a:endParaRPr lang="en-US" sz="900" b="0" i="0" u="none" strike="noStrike" cap="none">
              <a:solidFill>
                <a:srgbClr val="0F172A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117" name="Google Shape;117;p14"/>
          <p:cNvSpPr txBox="1"/>
          <p:nvPr/>
        </p:nvSpPr>
        <p:spPr>
          <a:xfrm>
            <a:off x="838200" y="3671887"/>
            <a:ext cx="5580868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64748B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90/10 Percentile Ratio</a:t>
            </a:r>
            <a:endParaRPr lang="en-US" sz="975" b="0" i="0" u="none" strike="noStrike" cap="none">
              <a:solidFill>
                <a:srgbClr val="64748B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118" name="Google Shape;118;p14"/>
          <p:cNvSpPr txBox="1"/>
          <p:nvPr/>
        </p:nvSpPr>
        <p:spPr>
          <a:xfrm>
            <a:off x="838200" y="3862387"/>
            <a:ext cx="5580868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0F172A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18.57×</a:t>
            </a:r>
            <a:endParaRPr lang="en-US" sz="2700" b="1" i="0" u="none" strike="noStrike" cap="none">
              <a:solidFill>
                <a:srgbClr val="0F172A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119" name="Google Shape;119;p14"/>
          <p:cNvSpPr txBox="1"/>
          <p:nvPr/>
        </p:nvSpPr>
        <p:spPr>
          <a:xfrm>
            <a:off x="838200" y="4319587"/>
            <a:ext cx="5580868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0F172A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P10: Rs 350 | P90: Rs 6,500</a:t>
            </a:r>
            <a:endParaRPr lang="en-US" sz="900" b="0" i="0" u="none" strike="noStrike" cap="none">
              <a:solidFill>
                <a:srgbClr val="0F172A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120" name="Google Shape;120;p14"/>
          <p:cNvSpPr txBox="1"/>
          <p:nvPr/>
        </p:nvSpPr>
        <p:spPr>
          <a:xfrm>
            <a:off x="800100" y="4957762"/>
            <a:ext cx="5676118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64748B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Excluded Outliers</a:t>
            </a:r>
            <a:endParaRPr lang="en-US" sz="975" b="0" i="0" u="none" strike="noStrike" cap="none">
              <a:solidFill>
                <a:srgbClr val="64748B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121" name="Google Shape;121;p14"/>
          <p:cNvSpPr txBox="1"/>
          <p:nvPr/>
        </p:nvSpPr>
        <p:spPr>
          <a:xfrm>
            <a:off x="800100" y="5129212"/>
            <a:ext cx="5676118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31 Students</a:t>
            </a:r>
            <a:endParaRPr lang="en-US" sz="1500" b="1" i="0" u="none" strike="noStrike" cap="none">
              <a:solidFill>
                <a:srgbClr val="334155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122" name="Google Shape;122;p14"/>
          <p:cNvSpPr txBox="1"/>
          <p:nvPr/>
        </p:nvSpPr>
        <p:spPr>
          <a:xfrm>
            <a:off x="5950594" y="2847975"/>
            <a:ext cx="6241405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Right Skewed Distribution</a:t>
            </a:r>
            <a:endParaRPr lang="en-US" sz="1350" b="1" i="0" u="none" strike="noStrike" cap="none">
              <a:solidFill>
                <a:srgbClr val="0F172A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123" name="Google Shape;123;p14"/>
          <p:cNvSpPr txBox="1"/>
          <p:nvPr/>
        </p:nvSpPr>
        <p:spPr>
          <a:xfrm>
            <a:off x="5950594" y="3124200"/>
            <a:ext cx="5498455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3341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Spending is heavily skewed toward low amounts for basic schooling, with a thin tail of high-expenditure households.</a:t>
            </a:r>
            <a:endParaRPr lang="en-US" sz="1125" b="0" i="0" u="none" strike="noStrike" cap="none">
              <a:solidFill>
                <a:srgbClr val="334155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124" name="Google Shape;124;p14"/>
          <p:cNvSpPr txBox="1"/>
          <p:nvPr/>
        </p:nvSpPr>
        <p:spPr>
          <a:xfrm>
            <a:off x="5950594" y="4133850"/>
            <a:ext cx="6241405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Survey Weights Function</a:t>
            </a:r>
            <a:endParaRPr lang="en-US" sz="1350" b="1" i="0" u="none" strike="noStrike" cap="none">
              <a:solidFill>
                <a:srgbClr val="0F172A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125" name="Google Shape;125;p14"/>
          <p:cNvSpPr txBox="1"/>
          <p:nvPr/>
        </p:nvSpPr>
        <p:spPr>
          <a:xfrm>
            <a:off x="5950594" y="4410075"/>
            <a:ext cx="5498455" cy="40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3341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Applying adjusts for household selection probabilities to represent the entire population accurately.</a:t>
            </a:r>
            <a:endParaRPr lang="en-US" sz="1125" b="0" i="0" u="none" strike="noStrike" cap="none">
              <a:solidFill>
                <a:srgbClr val="334155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5"/>
          <p:cNvSpPr/>
          <p:nvPr/>
        </p:nvSpPr>
        <p:spPr>
          <a:xfrm>
            <a:off x="9277350" y="547687"/>
            <a:ext cx="2305050" cy="361950"/>
          </a:xfrm>
          <a:prstGeom prst="roundRect">
            <a:avLst>
              <a:gd name="adj" fmla="val 21052"/>
            </a:avLst>
          </a:prstGeom>
          <a:solidFill>
            <a:srgbClr val="FEF2F2"/>
          </a:solidFill>
          <a:ln w="9525" cap="flat" cmpd="sng">
            <a:solidFill>
              <a:srgbClr val="FECA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31" name="Google Shape;131;p15"/>
          <p:cNvSpPr/>
          <p:nvPr/>
        </p:nvSpPr>
        <p:spPr>
          <a:xfrm>
            <a:off x="609600" y="2786062"/>
            <a:ext cx="4883794" cy="952500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32" name="Google Shape;132;p15"/>
          <p:cNvSpPr/>
          <p:nvPr/>
        </p:nvSpPr>
        <p:spPr>
          <a:xfrm>
            <a:off x="609600" y="3890962"/>
            <a:ext cx="4883794" cy="952500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33" name="Google Shape;133;p15"/>
          <p:cNvSpPr/>
          <p:nvPr/>
        </p:nvSpPr>
        <p:spPr>
          <a:xfrm>
            <a:off x="5721994" y="2680394"/>
            <a:ext cx="5860405" cy="1133475"/>
          </a:xfrm>
          <a:prstGeom prst="roundRect">
            <a:avLst>
              <a:gd name="adj" fmla="val 10084"/>
            </a:avLst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34" name="Google Shape;134;p15"/>
          <p:cNvSpPr/>
          <p:nvPr/>
        </p:nvSpPr>
        <p:spPr>
          <a:xfrm>
            <a:off x="5721994" y="3966269"/>
            <a:ext cx="5860405" cy="982860"/>
          </a:xfrm>
          <a:prstGeom prst="roundRect">
            <a:avLst>
              <a:gd name="adj" fmla="val 7752"/>
            </a:avLst>
          </a:prstGeom>
          <a:solidFill>
            <a:srgbClr val="FFF7E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35" name="Google Shape;135;p15"/>
          <p:cNvSpPr/>
          <p:nvPr/>
        </p:nvSpPr>
        <p:spPr>
          <a:xfrm>
            <a:off x="5721994" y="3966269"/>
            <a:ext cx="38100" cy="98286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36" name="Google Shape;136;p15"/>
          <p:cNvSpPr txBox="1"/>
          <p:nvPr/>
        </p:nvSpPr>
        <p:spPr>
          <a:xfrm>
            <a:off x="9429750" y="623887"/>
            <a:ext cx="209550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DC2626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Peak Gender Gap: 25–29 Band</a:t>
            </a:r>
            <a:endParaRPr lang="en-US" sz="1050" b="1" i="0" u="none" strike="noStrike" cap="none">
              <a:solidFill>
                <a:srgbClr val="DC2626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137" name="Google Shape;137;p15"/>
          <p:cNvSpPr txBox="1"/>
          <p:nvPr/>
        </p:nvSpPr>
        <p:spPr>
          <a:xfrm>
            <a:off x="609600" y="457200"/>
            <a:ext cx="5167312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2563EB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QUESTION 3</a:t>
            </a:r>
            <a:endParaRPr lang="en-US" sz="1050" b="1" i="0" u="none" strike="noStrike" cap="none">
              <a:solidFill>
                <a:srgbClr val="2563EB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138" name="Google Shape;138;p15"/>
          <p:cNvSpPr txBox="1"/>
          <p:nvPr/>
        </p:nvSpPr>
        <p:spPr>
          <a:xfrm>
            <a:off x="609600" y="657225"/>
            <a:ext cx="5425678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1" i="0" u="none" strike="noStrike" cap="none">
                <a:solidFill>
                  <a:srgbClr val="0F172A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Age-Literacy &amp; Gender Profile</a:t>
            </a:r>
            <a:endParaRPr lang="en-US" sz="2250" b="1" i="0" u="none" strike="noStrike" cap="none">
              <a:solidFill>
                <a:srgbClr val="0F172A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139" name="Google Shape;139;p15"/>
          <p:cNvSpPr txBox="1"/>
          <p:nvPr/>
        </p:nvSpPr>
        <p:spPr>
          <a:xfrm>
            <a:off x="809625" y="2986087"/>
            <a:ext cx="5604681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 i="0" u="none" strike="noStrike" cap="none">
                <a:solidFill>
                  <a:srgbClr val="64748B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Youth Cohort (Ages 15–19)</a:t>
            </a:r>
            <a:endParaRPr lang="en-US" sz="975" b="1" i="0" u="none" strike="noStrike" cap="none">
              <a:solidFill>
                <a:srgbClr val="64748B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140" name="Google Shape;140;p15"/>
          <p:cNvSpPr txBox="1"/>
          <p:nvPr/>
        </p:nvSpPr>
        <p:spPr>
          <a:xfrm>
            <a:off x="809625" y="4090987"/>
            <a:ext cx="5604681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 i="0" u="none" strike="noStrike" cap="none">
                <a:solidFill>
                  <a:srgbClr val="64748B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Older Cohort (Ages 55–59)</a:t>
            </a:r>
            <a:endParaRPr lang="en-US" sz="975" b="1" i="0" u="none" strike="noStrike" cap="none">
              <a:solidFill>
                <a:srgbClr val="64748B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141" name="Google Shape;141;p15"/>
          <p:cNvSpPr txBox="1"/>
          <p:nvPr/>
        </p:nvSpPr>
        <p:spPr>
          <a:xfrm>
            <a:off x="5950594" y="2908994"/>
            <a:ext cx="6241405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Cohort Expansion Effect</a:t>
            </a:r>
            <a:endParaRPr lang="en-US" sz="1350" b="1" i="0" u="none" strike="noStrike" cap="none">
              <a:solidFill>
                <a:srgbClr val="0F172A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142" name="Google Shape;142;p15"/>
          <p:cNvSpPr txBox="1"/>
          <p:nvPr/>
        </p:nvSpPr>
        <p:spPr>
          <a:xfrm>
            <a:off x="5950594" y="3185219"/>
            <a:ext cx="5498455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3341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Younger generations exhibit higher literacy, reflecting expanded access to schooling over recent decades.</a:t>
            </a:r>
            <a:endParaRPr lang="en-US" sz="1125" b="0" i="0" u="none" strike="noStrike" cap="none">
              <a:solidFill>
                <a:srgbClr val="334155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143" name="Google Shape;143;p15"/>
          <p:cNvSpPr txBox="1"/>
          <p:nvPr/>
        </p:nvSpPr>
        <p:spPr>
          <a:xfrm>
            <a:off x="5950594" y="4156769"/>
            <a:ext cx="624140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C2410C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Analytical Limitation</a:t>
            </a:r>
            <a:endParaRPr lang="en-US" sz="1200" b="1" i="0" u="none" strike="noStrike" cap="none">
              <a:solidFill>
                <a:srgbClr val="C2410C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144" name="Google Shape;144;p15"/>
          <p:cNvSpPr txBox="1"/>
          <p:nvPr/>
        </p:nvSpPr>
        <p:spPr>
          <a:xfrm>
            <a:off x="5950594" y="4385369"/>
            <a:ext cx="5536555" cy="373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A3412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Cross-sectional data cannot separate aging effects within individuals from generational schooling improvements.</a:t>
            </a:r>
            <a:endParaRPr lang="en-US" sz="1050" b="0" i="0" u="none" strike="noStrike" cap="none">
              <a:solidFill>
                <a:srgbClr val="9A3412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145" name="Google Shape;145;p15"/>
          <p:cNvSpPr txBox="1"/>
          <p:nvPr/>
        </p:nvSpPr>
        <p:spPr>
          <a:xfrm>
            <a:off x="809625" y="3214687"/>
            <a:ext cx="134302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0284C7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Male: </a:t>
            </a:r>
            <a:r>
              <a:rPr lang="en-US" sz="2100" b="1" i="0" u="none" strike="noStrike" cap="none">
                <a:solidFill>
                  <a:srgbClr val="0F172A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61.6%</a:t>
            </a:r>
            <a:endParaRPr lang="en-US" sz="2100" b="1" i="0" u="none" strike="noStrike" cap="none">
              <a:solidFill>
                <a:srgbClr val="0F172A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146" name="Google Shape;146;p15"/>
          <p:cNvSpPr txBox="1"/>
          <p:nvPr/>
        </p:nvSpPr>
        <p:spPr>
          <a:xfrm>
            <a:off x="3864619" y="3214687"/>
            <a:ext cx="152400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DB2777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Female: </a:t>
            </a:r>
            <a:r>
              <a:rPr lang="en-US" sz="2100" b="1" i="0" u="none" strike="noStrike" cap="none">
                <a:solidFill>
                  <a:srgbClr val="0F172A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28.0%</a:t>
            </a:r>
            <a:endParaRPr lang="en-US" sz="2100" b="1" i="0" u="none" strike="noStrike" cap="none">
              <a:solidFill>
                <a:srgbClr val="0F172A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147" name="Google Shape;147;p15"/>
          <p:cNvSpPr txBox="1"/>
          <p:nvPr/>
        </p:nvSpPr>
        <p:spPr>
          <a:xfrm>
            <a:off x="809625" y="4319587"/>
            <a:ext cx="133350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0284C7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Male: </a:t>
            </a:r>
            <a:r>
              <a:rPr lang="en-US" sz="2100" b="1" i="0" u="none" strike="noStrike" cap="none">
                <a:solidFill>
                  <a:srgbClr val="0F172A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41.2%</a:t>
            </a:r>
            <a:endParaRPr lang="en-US" sz="2100" b="1" i="0" u="none" strike="noStrike" cap="none">
              <a:solidFill>
                <a:srgbClr val="0F172A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148" name="Google Shape;148;p15"/>
          <p:cNvSpPr txBox="1"/>
          <p:nvPr/>
        </p:nvSpPr>
        <p:spPr>
          <a:xfrm>
            <a:off x="4036069" y="4319587"/>
            <a:ext cx="135255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DB2777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Female: </a:t>
            </a:r>
            <a:r>
              <a:rPr lang="en-US" sz="2100" b="1" i="0" u="none" strike="noStrike" cap="none">
                <a:solidFill>
                  <a:srgbClr val="0F172A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9.6%</a:t>
            </a:r>
            <a:endParaRPr lang="en-US" sz="2100" b="1" i="0" u="none" strike="noStrike" cap="none">
              <a:solidFill>
                <a:srgbClr val="0F172A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6"/>
          <p:cNvSpPr/>
          <p:nvPr/>
        </p:nvSpPr>
        <p:spPr>
          <a:xfrm>
            <a:off x="9124950" y="547687"/>
            <a:ext cx="2457450" cy="361950"/>
          </a:xfrm>
          <a:prstGeom prst="roundRect">
            <a:avLst>
              <a:gd name="adj" fmla="val 21052"/>
            </a:avLst>
          </a:prstGeom>
          <a:solidFill>
            <a:srgbClr val="F0FDF4"/>
          </a:solidFill>
          <a:ln w="9525" cap="flat" cmpd="sng">
            <a:solidFill>
              <a:srgbClr val="BBF7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54" name="Google Shape;154;p16"/>
          <p:cNvSpPr/>
          <p:nvPr/>
        </p:nvSpPr>
        <p:spPr>
          <a:xfrm>
            <a:off x="609600" y="1266825"/>
            <a:ext cx="3505200" cy="5133975"/>
          </a:xfrm>
          <a:prstGeom prst="roundRect">
            <a:avLst>
              <a:gd name="adj" fmla="val 3260"/>
            </a:avLst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55" name="Google Shape;155;p16"/>
          <p:cNvSpPr/>
          <p:nvPr/>
        </p:nvSpPr>
        <p:spPr>
          <a:xfrm>
            <a:off x="4343400" y="1266825"/>
            <a:ext cx="3505200" cy="5133975"/>
          </a:xfrm>
          <a:prstGeom prst="roundRect">
            <a:avLst>
              <a:gd name="adj" fmla="val 3260"/>
            </a:avLst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56" name="Google Shape;156;p16"/>
          <p:cNvSpPr/>
          <p:nvPr/>
        </p:nvSpPr>
        <p:spPr>
          <a:xfrm>
            <a:off x="8077200" y="1266825"/>
            <a:ext cx="3505200" cy="5133975"/>
          </a:xfrm>
          <a:prstGeom prst="roundRect">
            <a:avLst>
              <a:gd name="adj" fmla="val 3260"/>
            </a:avLst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157" name="Google Shape;157;p16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885825" y="3114675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6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4619625" y="3114675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6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8353425" y="3214687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16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981075" y="3209925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16" descr="image.png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4714875" y="3209925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16" descr="image.png"/>
          <p:cNvPicPr preferRelativeResize="0"/>
          <p:nvPr/>
        </p:nvPicPr>
        <p:blipFill rotWithShape="1">
          <a:blip r:embed="rId6"/>
          <a:srcRect/>
          <a:stretch>
            <a:fillRect/>
          </a:stretch>
        </p:blipFill>
        <p:spPr>
          <a:xfrm>
            <a:off x="8424862" y="3309937"/>
            <a:ext cx="238125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6"/>
          <p:cNvSpPr txBox="1"/>
          <p:nvPr/>
        </p:nvSpPr>
        <p:spPr>
          <a:xfrm>
            <a:off x="9277350" y="623887"/>
            <a:ext cx="224790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16A34A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R &amp; Python Output Parity: 28.0%</a:t>
            </a:r>
            <a:endParaRPr lang="en-US" sz="1050" b="1" i="0" u="none" strike="noStrike" cap="none">
              <a:solidFill>
                <a:srgbClr val="16A34A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164" name="Google Shape;164;p16"/>
          <p:cNvSpPr txBox="1"/>
          <p:nvPr/>
        </p:nvSpPr>
        <p:spPr>
          <a:xfrm>
            <a:off x="609600" y="457200"/>
            <a:ext cx="6119812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2563EB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QUESTIONS 4 &amp; 5</a:t>
            </a:r>
            <a:endParaRPr lang="en-US" sz="1050" b="1" i="0" u="none" strike="noStrike" cap="none">
              <a:solidFill>
                <a:srgbClr val="2563EB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165" name="Google Shape;165;p16"/>
          <p:cNvSpPr txBox="1"/>
          <p:nvPr/>
        </p:nvSpPr>
        <p:spPr>
          <a:xfrm>
            <a:off x="609600" y="657225"/>
            <a:ext cx="6425803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1" i="0" u="none" strike="noStrike" cap="none">
                <a:solidFill>
                  <a:srgbClr val="0F172A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Makeover &amp; Cross-Language Parity</a:t>
            </a:r>
            <a:endParaRPr lang="en-US" sz="2250" b="1" i="0" u="none" strike="noStrike" cap="none">
              <a:solidFill>
                <a:srgbClr val="0F172A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166" name="Google Shape;166;p16"/>
          <p:cNvSpPr txBox="1"/>
          <p:nvPr/>
        </p:nvSpPr>
        <p:spPr>
          <a:xfrm>
            <a:off x="885825" y="3648075"/>
            <a:ext cx="3875484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1. Aggregated Means</a:t>
            </a:r>
            <a:endParaRPr lang="en-US" sz="1500" b="1" i="0" u="none" strike="noStrike" cap="none">
              <a:solidFill>
                <a:srgbClr val="0F172A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167" name="Google Shape;167;p16"/>
          <p:cNvSpPr txBox="1"/>
          <p:nvPr/>
        </p:nvSpPr>
        <p:spPr>
          <a:xfrm>
            <a:off x="885825" y="3952875"/>
            <a:ext cx="304800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475569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Replaced raw binary points with weighted conditional averages to eliminate heavy overplotting.</a:t>
            </a:r>
            <a:endParaRPr lang="en-US" sz="1125" b="0" i="0" u="none" strike="noStrike" cap="none">
              <a:solidFill>
                <a:srgbClr val="475569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168" name="Google Shape;168;p16"/>
          <p:cNvSpPr txBox="1"/>
          <p:nvPr/>
        </p:nvSpPr>
        <p:spPr>
          <a:xfrm>
            <a:off x="4619625" y="3648075"/>
            <a:ext cx="3875484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2. High Data-Ink Ratio</a:t>
            </a:r>
            <a:endParaRPr lang="en-US" sz="1500" b="1" i="0" u="none" strike="noStrike" cap="none">
              <a:solidFill>
                <a:srgbClr val="0F172A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169" name="Google Shape;169;p16"/>
          <p:cNvSpPr txBox="1"/>
          <p:nvPr/>
        </p:nvSpPr>
        <p:spPr>
          <a:xfrm>
            <a:off x="4619625" y="3952875"/>
            <a:ext cx="304800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475569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Encoded trends with continuous lines, distinct gender colors, and hollow points for thin cells (N &lt; 30).</a:t>
            </a:r>
            <a:endParaRPr lang="en-US" sz="1125" b="0" i="0" u="none" strike="noStrike" cap="none">
              <a:solidFill>
                <a:srgbClr val="475569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170" name="Google Shape;170;p16"/>
          <p:cNvSpPr txBox="1"/>
          <p:nvPr/>
        </p:nvSpPr>
        <p:spPr>
          <a:xfrm>
            <a:off x="8353425" y="3748087"/>
            <a:ext cx="383857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3. Environment Tuning</a:t>
            </a:r>
            <a:endParaRPr lang="en-US" sz="1500" b="1" i="0" u="none" strike="noStrike" cap="none">
              <a:solidFill>
                <a:srgbClr val="0F172A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171" name="Google Shape;171;p16"/>
          <p:cNvSpPr txBox="1"/>
          <p:nvPr/>
        </p:nvSpPr>
        <p:spPr>
          <a:xfrm>
            <a:off x="8353425" y="4052887"/>
            <a:ext cx="30480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475569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Explicitly configured Matplotlib grids and margins to match R ggplot2 aesthetics.</a:t>
            </a:r>
            <a:endParaRPr lang="en-US" sz="1125" b="0" i="0" u="none" strike="noStrike" cap="none">
              <a:solidFill>
                <a:srgbClr val="475569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1545</Words>
  <Application>WPS Presentation</Application>
  <PresentationFormat/>
  <Paragraphs>94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5" baseType="lpstr">
      <vt:lpstr>Arial</vt:lpstr>
      <vt:lpstr>SimSun</vt:lpstr>
      <vt:lpstr>Wingdings</vt:lpstr>
      <vt:lpstr>Arial</vt:lpstr>
      <vt:lpstr>Calibri</vt:lpstr>
      <vt:lpstr>Space Grotesk</vt:lpstr>
      <vt:lpstr>Inter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Umar Farooq</cp:lastModifiedBy>
  <cp:revision>1</cp:revision>
  <dcterms:created xsi:type="dcterms:W3CDTF">2026-10-26T13:43:28Z</dcterms:created>
  <dcterms:modified xsi:type="dcterms:W3CDTF">2026-10-26T13:43:32Z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1033-12.1.0.28485</vt:lpwstr>
  </property>
  <property fmtid="{D5CDD505-2E9C-101B-9397-08002B2CF9AE}" pid="3" name="ICV">
    <vt:lpwstr>F834AB964DB947D08E6E1052479C3DFE_12</vt:lpwstr>
  </property>
</Properties>
</file>